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76B900"/>
                </a:solidFill>
                <a:latin typeface="Segoe UI"/>
              </a:rPr>
              <a:t>OpenUSD · PR 105 · applied to AAS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10607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Segoe UI"/>
              </a:rPr>
              <a:t>Pointing OpenUSD at the
Asset Administration Shell</a:t>
            </a:r>
          </a:p>
          <a:p>
            <a:pPr>
              <a:spcBef>
                <a:spcPts val="1400"/>
              </a:spcBef>
            </a:pPr>
            <a:r>
              <a:rPr sz="1800" b="0" i="0">
                <a:solidFill>
                  <a:srgbClr val="A8B09C"/>
                </a:solidFill>
                <a:latin typeface="Segoe UI"/>
              </a:rPr>
              <a:t>A source-identifier hello-world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A8B09C"/>
                </a:solidFill>
                <a:latin typeface="Segoe UI"/>
              </a:rPr>
              <a:t>Applied demonstration of Separation of Concerns for Identifiers (PR 105)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11480"/>
            <a:ext cx="1005840" cy="64008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5669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800" b="1" i="0">
                <a:solidFill>
                  <a:srgbClr val="ECECEC"/>
                </a:solidFill>
                <a:latin typeface="Segoe UI"/>
              </a:rPr>
              <a:t>A USD prim carries one thing — a stable globalAssetId.</a:t>
            </a:r>
          </a:p>
          <a:p>
            <a:pPr lvl="1">
              <a:spcAft>
                <a:spcPts val="1200"/>
              </a:spcAft>
            </a:pPr>
            <a:r>
              <a:rPr sz="1450" b="0" i="0">
                <a:solidFill>
                  <a:srgbClr val="A8B09C"/>
                </a:solidFill>
                <a:latin typeface="Segoe UI"/>
              </a:rPr>
              <a:t>No copied data. No network endpoints. Just durable identity, in USD's existing assetInfo.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800" b="1" i="0">
                <a:solidFill>
                  <a:srgbClr val="ECECEC"/>
                </a:solidFill>
                <a:latin typeface="Segoe UI"/>
              </a:rPr>
              <a:t>At runtime, a consumer resolves the live AAS data and does real work with it.</a:t>
            </a:r>
          </a:p>
          <a:p>
            <a:pPr lvl="1">
              <a:spcAft>
                <a:spcPts val="1200"/>
              </a:spcAft>
            </a:pPr>
            <a:r>
              <a:rPr sz="1450" b="0" i="0">
                <a:solidFill>
                  <a:srgbClr val="A8B09C"/>
                </a:solidFill>
                <a:latin typeface="Segoe UI"/>
              </a:rPr>
              <a:t>Reads the id off the prim → resolves over the standard AAS APIs → rolls up a Product Carbon Footprint.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800" b="1" i="0">
                <a:solidFill>
                  <a:srgbClr val="ECECEC"/>
                </a:solidFill>
                <a:latin typeface="Segoe UI"/>
              </a:rPr>
              <a:t>The data is never mirrored into the scene.</a:t>
            </a:r>
          </a:p>
          <a:p>
            <a:pPr lvl="1">
              <a:spcAft>
                <a:spcPts val="1200"/>
              </a:spcAft>
            </a:pPr>
            <a:r>
              <a:rPr sz="1450" b="0" i="0">
                <a:solidFill>
                  <a:srgbClr val="A8B09C"/>
                </a:solidFill>
                <a:latin typeface="Segoe UI"/>
              </a:rPr>
              <a:t>USD stays a portable description of what the asset is; the AAS stays the authoritative source of its data.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11480"/>
            <a:ext cx="1005840" cy="64008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5669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Segoe UI"/>
              </a:rPr>
              <a:t>Why it matters — and why the obvious ways break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1">
                <a:solidFill>
                  <a:srgbClr val="A8B09C"/>
                </a:solidFill>
                <a:latin typeface="Segoe UI"/>
              </a:rPr>
              <a:t>Industrial digital twins aggregate thousands of vendor components — each with authoritative data in a system of record.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800" b="1" i="0">
                <a:solidFill>
                  <a:srgbClr val="ECECEC"/>
                </a:solidFill>
                <a:latin typeface="Segoe UI"/>
              </a:rPr>
              <a:t>Copy the data into the scene → it goes stale.</a:t>
            </a:r>
          </a:p>
          <a:p>
            <a:pPr lvl="1">
              <a:spcAft>
                <a:spcPts val="1200"/>
              </a:spcAft>
            </a:pPr>
            <a:r>
              <a:rPr sz="1450" b="0" i="0">
                <a:solidFill>
                  <a:srgbClr val="A8B09C"/>
                </a:solidFill>
                <a:latin typeface="Segoe UI"/>
              </a:rPr>
              <a:t>An aggregate built from copied data can't be trusted: a missing value looks identical to a zero.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800" b="1" i="0">
                <a:solidFill>
                  <a:srgbClr val="ECECEC"/>
                </a:solidFill>
                <a:latin typeface="Segoe UI"/>
              </a:rPr>
              <a:t>Bake the source endpoints into the scene → it goes brittle.</a:t>
            </a:r>
          </a:p>
          <a:p>
            <a:pPr lvl="1">
              <a:spcAft>
                <a:spcPts val="1200"/>
              </a:spcAft>
            </a:pPr>
            <a:r>
              <a:rPr sz="1450" b="0" i="0">
                <a:solidFill>
                  <a:srgbClr val="A8B09C"/>
                </a:solidFill>
                <a:latin typeface="Segoe UI"/>
              </a:rPr>
              <a:t>Can't move site-to-site or stage-to-stage without rewiring; one asset with several shells has nowhere to put them.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800" b="1" i="0">
                <a:solidFill>
                  <a:srgbClr val="ECECEC"/>
                </a:solidFill>
                <a:latin typeface="Segoe UI"/>
              </a:rPr>
              <a:t>AAS is the open standard for industrial asset data.</a:t>
            </a:r>
          </a:p>
          <a:p>
            <a:pPr lvl="1">
              <a:spcAft>
                <a:spcPts val="1200"/>
              </a:spcAft>
            </a:pPr>
            <a:r>
              <a:rPr sz="1450" b="0" i="0">
                <a:solidFill>
                  <a:srgbClr val="A8B09C"/>
                </a:solidFill>
                <a:latin typeface="Segoe UI"/>
              </a:rPr>
              <a:t>Stable globalAssetId per shell; submodels for Nameplate, Technical Data, Carbon Footprint, and more.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11480"/>
            <a:ext cx="1005840" cy="64008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5669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Segoe UI"/>
              </a:rPr>
              <a:t>Two concerns, separated — the PR 105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800" b="1" i="0">
                <a:solidFill>
                  <a:srgbClr val="ECECEC"/>
                </a:solidFill>
                <a:latin typeface="Segoe UI"/>
              </a:rPr>
              <a:t>Concern 1 — External ID'ing.  “Which external entity is this prim?”</a:t>
            </a:r>
          </a:p>
          <a:p>
            <a:pPr lvl="1">
              <a:spcAft>
                <a:spcPts val="1200"/>
              </a:spcAft>
            </a:pPr>
            <a:r>
              <a:rPr sz="1450" b="0" i="0">
                <a:solidFill>
                  <a:srgbClr val="A8B09C"/>
                </a:solidFill>
                <a:latin typeface="Segoe UI"/>
              </a:rPr>
              <a:t>assetInfo.sourceIds.aas = { globalAssetId }   —   provenance only, no endpoints in USD.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800" b="1" i="0">
                <a:solidFill>
                  <a:srgbClr val="ECECEC"/>
                </a:solidFill>
                <a:latin typeface="Segoe UI"/>
              </a:rPr>
              <a:t>Concern 2 — Data binding / resolution.  “What data attaches, and how?”</a:t>
            </a:r>
          </a:p>
          <a:p>
            <a:pPr lvl="1">
              <a:spcAft>
                <a:spcPts val="1200"/>
              </a:spcAft>
            </a:pPr>
            <a:r>
              <a:rPr sz="1450" b="0" i="0">
                <a:solidFill>
                  <a:srgbClr val="A8B09C"/>
                </a:solidFill>
                <a:latin typeface="Segoe UI"/>
              </a:rPr>
              <a:t>An injected resolver: discovery / registry / repository clients fetch submodels on demand.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800" b="1" i="0">
                <a:solidFill>
                  <a:srgbClr val="ECECEC"/>
                </a:solidFill>
                <a:latin typeface="Segoe UI"/>
              </a:rPr>
              <a:t>Independent and individually optional.</a:t>
            </a:r>
          </a:p>
          <a:p>
            <a:pPr lvl="1">
              <a:spcAft>
                <a:spcPts val="1200"/>
              </a:spcAft>
            </a:pPr>
            <a:r>
              <a:rPr sz="1450" b="0" i="0">
                <a:solidFill>
                  <a:srgbClr val="A8B09C"/>
                </a:solidFill>
                <a:latin typeface="Segoe UI"/>
              </a:rPr>
              <a:t>Identity travels with the asset; resolution is supplied by the consumer, wherever it runs. That is what keeps the scene portable.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11480"/>
            <a:ext cx="1005840" cy="64008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5669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Segoe UI"/>
              </a:rPr>
              <a:t>Architecture · 1 — identity-only USD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A8B09C"/>
                </a:solidFill>
                <a:latin typeface="Segoe UI"/>
              </a:rPr>
              <a:t>The entire asset on the USD side — no endpoints, no copied submodels: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10881360" cy="2432304"/>
          </a:xfrm>
          <a:prstGeom prst="rect">
            <a:avLst/>
          </a:prstGeom>
          <a:solidFill>
            <a:srgbClr val="262626"/>
          </a:solidFill>
          <a:ln w="15875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tIns="146304"/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D8E8C0"/>
                </a:solidFill>
                <a:latin typeface="Consolas"/>
              </a:rPr>
              <a:t>def Xform "IESEDriveMotorDM3000" (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D8E8C0"/>
                </a:solidFill>
                <a:latin typeface="Consolas"/>
              </a:rPr>
              <a:t>    assetInfo = {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D8E8C0"/>
                </a:solidFill>
                <a:latin typeface="Consolas"/>
              </a:rPr>
              <a:t>        dictionary sourceIds = {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D8E8C0"/>
                </a:solidFill>
                <a:latin typeface="Consolas"/>
              </a:rPr>
              <a:t>            dictionary aas = {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D8E8C0"/>
                </a:solidFill>
                <a:latin typeface="Consolas"/>
              </a:rPr>
              <a:t>                string globalAssetId = "urn:fraunhofer:iese:...:serial-0042"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D8E8C0"/>
                </a:solidFill>
                <a:latin typeface="Consolas"/>
              </a:rPr>
              <a:t>            }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D8E8C0"/>
                </a:solidFill>
                <a:latin typeface="Consolas"/>
              </a:rPr>
              <a:t>        }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D8E8C0"/>
                </a:solidFill>
                <a:latin typeface="Consolas"/>
              </a:rPr>
              <a:t>    }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D8E8C0"/>
                </a:solidFill>
                <a:latin typeface="Consolas"/>
              </a:rPr>
              <a:t>) { 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873752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A8B09C"/>
                </a:solidFill>
                <a:latin typeface="Segoe UI"/>
              </a:rPr>
              <a:t>USD's existing assetInfo metadata — no new schema required, ships today.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11480"/>
            <a:ext cx="1005840" cy="64008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5669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Segoe UI"/>
              </a:rPr>
              <a:t>Architecture · 2 — runtime-injected resolve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A8B09C"/>
                </a:solidFill>
                <a:latin typeface="Segoe UI"/>
              </a:rPr>
              <a:t>One seam takes the stable identity + a context, and walks the standard AAS chain with failover: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10881360" cy="1538224"/>
          </a:xfrm>
          <a:prstGeom prst="rect">
            <a:avLst/>
          </a:prstGeom>
          <a:solidFill>
            <a:srgbClr val="262626"/>
          </a:solidFill>
          <a:ln w="15875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tIns="146304"/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D8E8C0"/>
                </a:solidFill>
                <a:latin typeface="Consolas"/>
              </a:rPr>
              <a:t>def resolve(global_asset_id, context) -&gt; ResolvedAsset: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D8E8C0"/>
                </a:solidFill>
                <a:latin typeface="Consolas"/>
              </a:rPr>
              <a:t>    # Hop 1  Discovery:   globalAssetId -&gt; [aasId, ...]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D8E8C0"/>
                </a:solidFill>
                <a:latin typeface="Consolas"/>
              </a:rPr>
              <a:t>    # Hop 2  Registry:    aasId -&gt; repository endpoint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D8E8C0"/>
                </a:solidFill>
                <a:latin typeface="Consolas"/>
              </a:rPr>
              <a:t>    # Hop 3  Repository:  fetch shell; submodels fetched lazily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D8E8C0"/>
                </a:solidFill>
                <a:latin typeface="Consolas"/>
              </a:rPr>
              <a:t>    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79672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A8B09C"/>
                </a:solidFill>
                <a:latin typeface="Segoe UI"/>
              </a:rPr>
              <a:t>Endpoints live in the context, supplied at runtime — never in USD. Same id resolves to different shells in different contexts. Lazy fetch: cost scales with what's accessed; result is read-once, cacheable.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11480"/>
            <a:ext cx="1005840" cy="64008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5669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Segoe UI"/>
              </a:rPr>
              <a:t>Architecture · 3 — used, not mirrored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800" b="1" i="0">
                <a:solidFill>
                  <a:srgbClr val="ECECEC"/>
                </a:solidFill>
                <a:latin typeface="Segoe UI"/>
              </a:rPr>
              <a:t>The consumer does its work with the live data — and does not write it back into USD.</a:t>
            </a:r>
          </a:p>
          <a:p>
            <a:pPr lvl="1">
              <a:spcAft>
                <a:spcPts val="1200"/>
              </a:spcAft>
            </a:pPr>
            <a:r>
              <a:rPr sz="1450" b="0" i="0">
                <a:solidFill>
                  <a:srgbClr val="A8B09C"/>
                </a:solidFill>
                <a:latin typeface="Segoe UI"/>
              </a:rPr>
              <a:t>Binding-pointer posture (PR 105): USD carries the identifier, the AAS holds the data, the consumer pulls on demand.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800" b="1" i="0">
                <a:solidFill>
                  <a:srgbClr val="ECECEC"/>
                </a:solidFill>
                <a:latin typeface="Segoe UI"/>
              </a:rPr>
              <a:t>Mirroring AAS submodels into USD attributes would re-create the staleness problem.</a:t>
            </a:r>
          </a:p>
          <a:p>
            <a:pPr lvl="1">
              <a:spcAft>
                <a:spcPts val="1200"/>
              </a:spcAft>
            </a:pPr>
            <a:r>
              <a:rPr sz="1450" b="0" i="0">
                <a:solidFill>
                  <a:srgbClr val="A8B09C"/>
                </a:solidFill>
                <a:latin typeface="Segoe UI"/>
              </a:rPr>
              <a:t>It duplicates the source-of-record schema into the scene — exactly what the architecture avoids.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800" b="1" i="0">
                <a:solidFill>
                  <a:srgbClr val="ECECEC"/>
                </a:solidFill>
                <a:latin typeface="Segoe UI"/>
              </a:rPr>
              <a:t>Terminology note: this resolve() is not USD value/asset resolution.</a:t>
            </a:r>
          </a:p>
          <a:p>
            <a:pPr lvl="1">
              <a:spcAft>
                <a:spcPts val="1200"/>
              </a:spcAft>
            </a:pPr>
            <a:r>
              <a:rPr sz="1450" b="0" i="0">
                <a:solidFill>
                  <a:srgbClr val="A8B09C"/>
                </a:solidFill>
                <a:latin typeface="Segoe UI"/>
              </a:rPr>
              <a:t>It's the AAS data-acquisition step (globalAssetId -&gt; live data over HTTP). The name is kept for continuity.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11480"/>
            <a:ext cx="1005840" cy="64008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5669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Segoe UI"/>
              </a:rPr>
              <a:t>What runs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A8B09C"/>
                </a:solidFill>
                <a:latin typeface="Segoe UI"/>
              </a:rPr>
              <a:t>One end-to-end loop, against Eclipse BaSyx + its public Fraunhofer-IESE drivemotor shell: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5740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1" i="0">
                <a:solidFill>
                  <a:srgbClr val="76B900"/>
                </a:solidFill>
                <a:latin typeface="Segoe UI"/>
              </a:rPr>
              <a:t>1  </a:t>
            </a:r>
            <a:r>
              <a:rPr sz="1600" b="1" i="0">
                <a:solidFill>
                  <a:srgbClr val="ECECEC"/>
                </a:solidFill>
                <a:latin typeface="Segoe UI"/>
              </a:rPr>
              <a:t>Author identity-only USD</a:t>
            </a:r>
          </a:p>
          <a:p>
            <a:pPr lvl="1">
              <a:spcAft>
                <a:spcPts val="900"/>
              </a:spcAft>
            </a:pPr>
            <a:r>
              <a:rPr sz="1250" b="0" i="0">
                <a:solidFill>
                  <a:srgbClr val="A8B09C"/>
                </a:solidFill>
                <a:latin typeface="Consolas"/>
              </a:rPr>
              <a:t>      drivemotor.usda — a prim carrying ONLY the globalAssetId. No data, no endpoints.</a:t>
            </a:r>
          </a:p>
          <a:p>
            <a:pPr>
              <a:spcAft>
                <a:spcPts val="300"/>
              </a:spcAft>
            </a:pPr>
            <a:r>
              <a:rPr sz="1600" b="1" i="0">
                <a:solidFill>
                  <a:srgbClr val="76B900"/>
                </a:solidFill>
                <a:latin typeface="Segoe UI"/>
              </a:rPr>
              <a:t>2  </a:t>
            </a:r>
            <a:r>
              <a:rPr sz="1600" b="1" i="0">
                <a:solidFill>
                  <a:srgbClr val="ECECEC"/>
                </a:solidFill>
                <a:latin typeface="Segoe UI"/>
              </a:rPr>
              <a:t>Resolve at runtime</a:t>
            </a:r>
          </a:p>
          <a:p>
            <a:pPr lvl="1">
              <a:spcAft>
                <a:spcPts val="900"/>
              </a:spcAft>
            </a:pPr>
            <a:r>
              <a:rPr sz="1250" b="0" i="0">
                <a:solidFill>
                  <a:srgbClr val="A8B09C"/>
                </a:solidFill>
                <a:latin typeface="Consolas"/>
              </a:rPr>
              <a:t>      read the id off the prim  →  inject the endpoint (not from USD)  →  Discovery → Registry → Repository  →  live shell + submodels</a:t>
            </a:r>
          </a:p>
          <a:p>
            <a:pPr>
              <a:spcAft>
                <a:spcPts val="300"/>
              </a:spcAft>
            </a:pPr>
            <a:r>
              <a:rPr sz="1600" b="1" i="0">
                <a:solidFill>
                  <a:srgbClr val="76B900"/>
                </a:solidFill>
                <a:latin typeface="Segoe UI"/>
              </a:rPr>
              <a:t>3  </a:t>
            </a:r>
            <a:r>
              <a:rPr sz="1600" b="1" i="0">
                <a:solidFill>
                  <a:srgbClr val="ECECEC"/>
                </a:solidFill>
                <a:latin typeface="Segoe UI"/>
              </a:rPr>
              <a:t>Do useful work with the live data</a:t>
            </a:r>
          </a:p>
          <a:p>
            <a:pPr lvl="1">
              <a:spcAft>
                <a:spcPts val="900"/>
              </a:spcAft>
            </a:pPr>
            <a:r>
              <a:rPr sz="1250" b="0" i="0">
                <a:solidFill>
                  <a:srgbClr val="A8B09C"/>
                </a:solidFill>
                <a:latin typeface="Consolas"/>
              </a:rPr>
              <a:t>      parse the CarbonFootprint submodel (IDTA 02023)  →  roll up the footprint, flag what's missing</a:t>
            </a:r>
          </a:p>
          <a:p>
            <a:pPr>
              <a:spcAft>
                <a:spcPts val="300"/>
              </a:spcAft>
            </a:pPr>
            <a:r>
              <a:rPr sz="1600" b="1" i="0">
                <a:solidFill>
                  <a:srgbClr val="76B900"/>
                </a:solidFill>
                <a:latin typeface="Segoe UI"/>
              </a:rPr>
              <a:t>4  </a:t>
            </a:r>
            <a:r>
              <a:rPr sz="1600" b="1" i="0">
                <a:solidFill>
                  <a:srgbClr val="ECECEC"/>
                </a:solidFill>
                <a:latin typeface="Segoe UI"/>
              </a:rPr>
              <a:t>Nothing mirrored back</a:t>
            </a:r>
          </a:p>
          <a:p>
            <a:pPr lvl="1">
              <a:spcAft>
                <a:spcPts val="900"/>
              </a:spcAft>
            </a:pPr>
            <a:r>
              <a:rPr sz="1250" b="0" i="0">
                <a:solidFill>
                  <a:srgbClr val="A8B09C"/>
                </a:solidFill>
                <a:latin typeface="Consolas"/>
              </a:rPr>
              <a:t>      the result is computed in the consumer; the USD file is never touched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5413248"/>
            <a:ext cx="10881360" cy="1078992"/>
          </a:xfrm>
          <a:prstGeom prst="rect">
            <a:avLst/>
          </a:prstGeom>
          <a:solidFill>
            <a:srgbClr val="2C361B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73152"/>
          <a:lstStyle/>
          <a:p>
            <a:pPr algn="l"/>
            <a:r>
              <a:rPr sz="1300" b="1" i="0">
                <a:solidFill>
                  <a:srgbClr val="76B900"/>
                </a:solidFill>
                <a:latin typeface="Segoe UI"/>
              </a:rPr>
              <a:t>Result  </a:t>
            </a:r>
            <a:r>
              <a:rPr sz="1500" b="1" i="0">
                <a:solidFill>
                  <a:srgbClr val="FFFFFF"/>
                </a:solidFill>
                <a:latin typeface="Segoe UI"/>
              </a:rPr>
              <a:t>A USD asset carrying only an ID produced a live analysis — nothing copied into the scene.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ECECEC"/>
                </a:solidFill>
                <a:latin typeface="Segoe UI"/>
              </a:rPr>
              <a:t>Footprint to the factory gate = 285 kg CO₂e/piece (raw materials 180 + transport 25 + manufacturing 80) ✓   ·   use &amp; end-of-life stages not reported → flagged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11480"/>
            <a:ext cx="1005840" cy="64008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5669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Segoe UI"/>
              </a:rPr>
              <a:t>Why gap-flagging is the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800" b="1" i="0">
                <a:solidFill>
                  <a:srgbClr val="ECECEC"/>
                </a:solidFill>
                <a:latin typeface="Segoe UI"/>
              </a:rPr>
              <a:t>A report-grade roll-up must tell “footprint is zero” apart from “never reported a footprint.”</a:t>
            </a:r>
          </a:p>
          <a:p>
            <a:pPr lvl="1">
              <a:spcAft>
                <a:spcPts val="1200"/>
              </a:spcAft>
            </a:pPr>
            <a:r>
              <a:rPr sz="1450" b="0" i="0">
                <a:solidFill>
                  <a:srgbClr val="A8B09C"/>
                </a:solidFill>
                <a:latin typeface="Segoe UI"/>
              </a:rPr>
              <a:t>Coverage is a first-class output: sum only the stages reported; name what's missing.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800" b="1" i="0">
                <a:solidFill>
                  <a:srgbClr val="ECECEC"/>
                </a:solidFill>
                <a:latin typeface="Segoe UI"/>
              </a:rPr>
              <a:t>A missing value is never silently coerced to zero.</a:t>
            </a:r>
          </a:p>
          <a:p>
            <a:pPr lvl="1">
              <a:spcAft>
                <a:spcPts val="1200"/>
              </a:spcAft>
            </a:pPr>
            <a:r>
              <a:rPr sz="1450" b="0" i="0">
                <a:solidFill>
                  <a:srgbClr val="A8B09C"/>
                </a:solidFill>
                <a:latin typeface="Segoe UI"/>
              </a:rPr>
              <a:t>Missing PCF, missing CO₂e, incomplete cradle-to-gate, unreported use phase — each is flagged.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800" b="1" i="0">
                <a:solidFill>
                  <a:srgbClr val="ECECEC"/>
                </a:solidFill>
                <a:latin typeface="Segoe UI"/>
              </a:rPr>
              <a:t>Gaps are actionable — they tell you which supplier to chase.</a:t>
            </a:r>
          </a:p>
          <a:p>
            <a:pPr lvl="1">
              <a:spcAft>
                <a:spcPts val="1200"/>
              </a:spcAft>
            </a:pPr>
            <a:r>
              <a:rPr sz="1450" b="0" i="0">
                <a:solidFill>
                  <a:srgbClr val="A8B09C"/>
                </a:solidFill>
                <a:latin typeface="Segoe UI"/>
              </a:rPr>
              <a:t>The roll-up sums across components, so it extends directly to a bill of materials.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11480"/>
            <a:ext cx="1005840" cy="64008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5669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Segoe UI"/>
              </a:rPr>
              <a:t>Roadmap &amp;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700" b="0" i="0">
                <a:solidFill>
                  <a:srgbClr val="ECECEC"/>
                </a:solidFill>
                <a:latin typeface="Segoe UI"/>
              </a:rPr>
              <a:t>Bill-of-materials roll-up (next): several components, one scene, carbon rolled up across the assembly, gaps named.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700" b="0" i="0">
                <a:solidFill>
                  <a:srgbClr val="ECECEC"/>
                </a:solidFill>
                <a:latin typeface="Segoe UI"/>
              </a:rPr>
              <a:t>Change-driven refresh (later): identity and fetch are decoupled, so push-refresh drops in when AAS notifications mature.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700" b="0" i="0">
                <a:solidFill>
                  <a:srgbClr val="ECECEC"/>
                </a:solidFill>
                <a:latin typeface="Segoe UI"/>
              </a:rPr>
              <a:t>Read-once today proves the binding; push-refresh follows when the source side is ready.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76B900"/>
                </a:solidFill>
                <a:latin typeface="Segoe UI"/>
              </a:rPr>
              <a:t>References</a:t>
            </a:r>
          </a:p>
          <a:p>
            <a:pPr>
              <a:spcAft>
                <a:spcPts val="200"/>
              </a:spcAft>
            </a:pPr>
            <a:r>
              <a:rPr sz="1200" b="0" i="0">
                <a:solidFill>
                  <a:srgbClr val="A8B09C"/>
                </a:solidFill>
                <a:latin typeface="Segoe UI"/>
              </a:rPr>
              <a:t>PR 105 — Separation of Concerns for Identifiers · github.com/PixarAnimationStudios/OpenUSD-proposals/pull/105</a:t>
            </a:r>
          </a:p>
          <a:p>
            <a:pPr>
              <a:spcAft>
                <a:spcPts val="200"/>
              </a:spcAft>
            </a:pPr>
            <a:r>
              <a:rPr sz="1200" b="0" i="0">
                <a:solidFill>
                  <a:srgbClr val="A8B09C"/>
                </a:solidFill>
                <a:latin typeface="Segoe UI"/>
              </a:rPr>
              <a:t>AAS DPP ↔ OpenUSD PoC (M. Wagner, SyncTwin) · github.com/asluk/OpenUSD-proposals/pull/2</a:t>
            </a:r>
          </a:p>
          <a:p>
            <a:pPr>
              <a:spcAft>
                <a:spcPts val="200"/>
              </a:spcAft>
            </a:pPr>
            <a:r>
              <a:rPr sz="1200" b="0" i="0">
                <a:solidFill>
                  <a:srgbClr val="A8B09C"/>
                </a:solidFill>
                <a:latin typeface="Segoe UI"/>
              </a:rPr>
              <a:t>AAS specifications (IDTA) · industrialdigitaltwin.org   ·   Eclipse BaSyx · github.com/eclipse-basyx</a:t>
            </a:r>
          </a:p>
          <a:p>
            <a:pPr>
              <a:spcAft>
                <a:spcPts val="200"/>
              </a:spcAft>
            </a:pPr>
            <a:r>
              <a:rPr sz="1200" b="0" i="0">
                <a:solidFill>
                  <a:srgbClr val="A8B09C"/>
                </a:solidFill>
                <a:latin typeface="Segoe UI"/>
              </a:rPr>
              <a:t>Omniverse DSX Blueprint (domain motivation) · blogs.nvidia.com/blog/omniverse-dsx-blueprint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